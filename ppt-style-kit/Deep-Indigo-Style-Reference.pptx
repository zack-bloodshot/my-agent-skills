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288207" y="-1543507"/>
            <a:ext cx="3086100" cy="3086100"/>
          </a:xfrm>
          <a:prstGeom prst="ellipse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15631668" y="7626096"/>
            <a:ext cx="4832604" cy="4832604"/>
          </a:xfrm>
          <a:prstGeom prst="ellipse">
            <a:avLst/>
          </a:prstGeom>
          <a:solidFill>
            <a:srgbClr val="709BBF">
              <a:alpha val="5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28700" y="1301191"/>
            <a:ext cx="16230600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75" dirty="0">
                <a:solidFill>
                  <a:srgbClr val="FFF51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FINAL YEAR PROJECT</a:t>
            </a:r>
            <a:endParaRPr lang="en-US" sz="3075" dirty="0"/>
          </a:p>
        </p:txBody>
      </p:sp>
      <p:sp>
        <p:nvSpPr>
          <p:cNvPr id="5" name="Text 3"/>
          <p:cNvSpPr/>
          <p:nvPr/>
        </p:nvSpPr>
        <p:spPr>
          <a:xfrm>
            <a:off x="1028700" y="3056839"/>
            <a:ext cx="13503859" cy="2085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351"/>
              </a:lnSpc>
              <a:buNone/>
            </a:pPr>
            <a:r>
              <a:rPr lang="en-US" sz="5965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Optimized Energy Management system for PV-grid system</a:t>
            </a:r>
            <a:endParaRPr lang="en-US" sz="5965" dirty="0"/>
          </a:p>
        </p:txBody>
      </p:sp>
      <p:sp>
        <p:nvSpPr>
          <p:cNvPr id="6" name="Text 4"/>
          <p:cNvSpPr/>
          <p:nvPr/>
        </p:nvSpPr>
        <p:spPr>
          <a:xfrm>
            <a:off x="1028700" y="6069787"/>
            <a:ext cx="1280160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Group - 18</a:t>
            </a:r>
            <a:endParaRPr lang="en-US" sz="2250" dirty="0"/>
          </a:p>
          <a:p>
            <a:pPr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Abhijit Goswami - 230610003004</a:t>
            </a:r>
            <a:endParaRPr lang="en-US" sz="2250" dirty="0"/>
          </a:p>
          <a:p>
            <a:pPr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Bijuban Deka - 230610003024</a:t>
            </a:r>
            <a:endParaRPr lang="en-US" sz="2250" dirty="0"/>
          </a:p>
          <a:p>
            <a:pPr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Arihant Malu - 230610003014</a:t>
            </a:r>
            <a:endParaRPr lang="en-US" sz="2250" dirty="0"/>
          </a:p>
          <a:p>
            <a:pPr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Joysheel Borah - 230610003046</a:t>
            </a:r>
            <a:endParaRPr lang="en-US" sz="2250" dirty="0"/>
          </a:p>
          <a:p>
            <a:pPr indent="0" marL="0">
              <a:lnSpc>
                <a:spcPts val="337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Mentor: Mrs. Priyakshi Shyam, Assistant Professor (EE)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288207" y="-1543507"/>
            <a:ext cx="3086100" cy="3086100"/>
          </a:xfrm>
          <a:prstGeom prst="ellipse">
            <a:avLst/>
          </a:prstGeom>
          <a:solidFill>
            <a:srgbClr val="1A1B26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624535"/>
            <a:ext cx="13503859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2"/>
              </a:lnSpc>
              <a:buNone/>
            </a:pPr>
            <a:r>
              <a:rPr lang="en-US" sz="4887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PV-BATTERY GRID-CONNECTED SYSTEM</a:t>
            </a:r>
            <a:endParaRPr lang="en-US" sz="4887" dirty="0"/>
          </a:p>
        </p:txBody>
      </p:sp>
      <p:sp>
        <p:nvSpPr>
          <p:cNvPr id="4" name="Shape 2"/>
          <p:cNvSpPr/>
          <p:nvPr/>
        </p:nvSpPr>
        <p:spPr>
          <a:xfrm>
            <a:off x="1028700" y="1815084"/>
            <a:ext cx="16230600" cy="3194914"/>
          </a:xfrm>
          <a:prstGeom prst="roundRect">
            <a:avLst>
              <a:gd name="adj" fmla="val 5152"/>
            </a:avLst>
          </a:prstGeom>
          <a:solidFill>
            <a:srgbClr val="1A1B26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1815084"/>
            <a:ext cx="16230600" cy="3194914"/>
          </a:xfrm>
          <a:prstGeom prst="rect">
            <a:avLst/>
          </a:prstGeom>
          <a:noFill/>
          <a:ln/>
        </p:spPr>
        <p:txBody>
          <a:bodyPr wrap="square" lIns="365760" tIns="365760" rIns="365760" bIns="36576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ECF0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The system consists of a solar photovoltaic (PV) generation unit integrated with a battery energy storage system (BESS) and connected to the utility grid.</a:t>
            </a:r>
            <a:endParaRPr lang="en-US" sz="22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ECF0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The PV system supplies the local load, while excess generation is stored in the battery. When PV generation and available battery energy are insufficient, power is imported from the grid.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28700" y="5577840"/>
            <a:ext cx="16230600" cy="3291840"/>
          </a:xfrm>
          <a:prstGeom prst="roundRect">
            <a:avLst>
              <a:gd name="adj" fmla="val 5000"/>
            </a:avLst>
          </a:prstGeom>
          <a:solidFill>
            <a:srgbClr val="1A1B26"/>
          </a:solidFill>
          <a:ln/>
        </p:spPr>
      </p:sp>
      <p:sp>
        <p:nvSpPr>
          <p:cNvPr id="7" name="Text 5"/>
          <p:cNvSpPr/>
          <p:nvPr/>
        </p:nvSpPr>
        <p:spPr>
          <a:xfrm>
            <a:off x="1028700" y="5577840"/>
            <a:ext cx="16230600" cy="3291840"/>
          </a:xfrm>
          <a:prstGeom prst="rect">
            <a:avLst/>
          </a:prstGeom>
          <a:noFill/>
          <a:ln/>
        </p:spPr>
        <p:txBody>
          <a:bodyPr wrap="square" lIns="365760" tIns="365760" rIns="365760" bIns="365760" rtlCol="0" anchor="t"/>
          <a:lstStyle/>
          <a:p>
            <a:pPr algn="l" indent="0" marL="0">
              <a:buNone/>
            </a:pPr>
            <a:r>
              <a:rPr lang="en-US" sz="3849" dirty="0">
                <a:solidFill>
                  <a:srgbClr val="FFFFFF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PHASE 3</a:t>
            </a:r>
            <a:endParaRPr lang="en-US" sz="3849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ECF0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Add the cost of battery wear to the plan, so we save money without overworking the battery.</a:t>
            </a:r>
            <a:endParaRPr lang="en-US" sz="3849" dirty="0"/>
          </a:p>
          <a:p>
            <a:pPr algn="l" indent="0" marL="0">
              <a:buNone/>
            </a:pPr>
            <a:r>
              <a:rPr lang="en-US" sz="3849" dirty="0">
                <a:solidFill>
                  <a:srgbClr val="FFFFFF"/>
                </a:solidFill>
                <a:latin typeface="Montserrat Ultra-Bold" pitchFamily="34" charset="0"/>
                <a:ea typeface="Montserrat Ultra-Bold" pitchFamily="34" charset="-122"/>
                <a:cs typeface="Montserrat Ultra-Bold" pitchFamily="34" charset="-120"/>
              </a:rPr>
              <a:t>PHASE 4</a:t>
            </a:r>
            <a:endParaRPr lang="en-US" sz="3849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ECF0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Compare all methods on cost and battery life, on sunny and cloudy days and with different tariffs.</a:t>
            </a:r>
            <a:endParaRPr lang="en-US" sz="384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288207" y="-1543507"/>
            <a:ext cx="3086100" cy="3086100"/>
          </a:xfrm>
          <a:prstGeom prst="ellipse">
            <a:avLst/>
          </a:prstGeom>
          <a:solidFill>
            <a:srgbClr val="1A1B26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624535"/>
            <a:ext cx="13503859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2"/>
              </a:lnSpc>
              <a:buNone/>
            </a:pPr>
            <a:r>
              <a:rPr lang="en-US" sz="4887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Daily Dispatch - Sunny Day</a:t>
            </a:r>
            <a:endParaRPr lang="en-US" sz="4887" dirty="0"/>
          </a:p>
        </p:txBody>
      </p:sp>
      <p:sp>
        <p:nvSpPr>
          <p:cNvPr id="4" name="Shape 2"/>
          <p:cNvSpPr/>
          <p:nvPr/>
        </p:nvSpPr>
        <p:spPr>
          <a:xfrm>
            <a:off x="1028700" y="1750162"/>
            <a:ext cx="6922922" cy="7589520"/>
          </a:xfrm>
          <a:prstGeom prst="rect">
            <a:avLst/>
          </a:prstGeom>
          <a:solidFill>
            <a:srgbClr val="CDD6FF"/>
          </a:solidFill>
          <a:ln/>
        </p:spPr>
      </p:sp>
      <p:pic>
        <p:nvPicPr>
          <p:cNvPr id="5" name="Image 0" descr="assets/disp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1854441"/>
            <a:ext cx="6813194" cy="73809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49894" y="3699662"/>
            <a:ext cx="8510321" cy="6150254"/>
          </a:xfrm>
          <a:prstGeom prst="rect">
            <a:avLst/>
          </a:prstGeom>
          <a:solidFill>
            <a:srgbClr val="1A1B26"/>
          </a:solidFill>
          <a:ln/>
        </p:spPr>
        <p:txBody>
          <a:bodyPr wrap="square" lIns="330098" tIns="330098" rIns="330098" bIns="330098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F7A8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THE PLOTS SHOW</a:t>
            </a:r>
            <a:endParaRPr lang="en-US" sz="26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99AC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Baseline:  </a:t>
            </a:r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No battery. The midday PV surplus is exported at the low solar-slot rate.</a:t>
            </a:r>
            <a:endParaRPr lang="en-US" sz="26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99AC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Heuristic:  </a:t>
            </a:r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Charges from ~9 h to ~13 h, exports once full, then discharges 15 h to 20 h.</a:t>
            </a:r>
            <a:endParaRPr lang="en-US" sz="26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99AC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LP:  </a:t>
            </a:r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Charges in short midday pulses, then discharges from ~17 h into the night.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28700" y="9418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55577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Sunny day, 24-hour dispatch.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288207" y="-1543507"/>
            <a:ext cx="3086100" cy="3086100"/>
          </a:xfrm>
          <a:prstGeom prst="ellipse">
            <a:avLst/>
          </a:prstGeom>
          <a:solidFill>
            <a:srgbClr val="1A1B26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624535"/>
            <a:ext cx="13503859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2"/>
              </a:lnSpc>
              <a:buNone/>
            </a:pPr>
            <a:r>
              <a:rPr lang="en-US" sz="4887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Savings Comparison</a:t>
            </a:r>
            <a:endParaRPr lang="en-US" sz="4887" dirty="0"/>
          </a:p>
        </p:txBody>
      </p:sp>
      <p:sp>
        <p:nvSpPr>
          <p:cNvPr id="4" name="Shape 2"/>
          <p:cNvSpPr/>
          <p:nvPr/>
        </p:nvSpPr>
        <p:spPr>
          <a:xfrm>
            <a:off x="1028700" y="1750162"/>
            <a:ext cx="6922922" cy="7589520"/>
          </a:xfrm>
          <a:prstGeom prst="rect">
            <a:avLst/>
          </a:prstGeom>
          <a:solidFill>
            <a:srgbClr val="CDD6FF"/>
          </a:solidFill>
          <a:ln/>
        </p:spPr>
      </p:sp>
      <p:pic>
        <p:nvPicPr>
          <p:cNvPr id="5" name="Image 0" descr="assets/disp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1854441"/>
            <a:ext cx="6813194" cy="73809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49894" y="1750162"/>
            <a:ext cx="2700223" cy="1750162"/>
          </a:xfrm>
          <a:prstGeom prst="roundRect">
            <a:avLst>
              <a:gd name="adj" fmla="val 6270"/>
            </a:avLst>
          </a:prstGeom>
          <a:solidFill>
            <a:srgbClr val="EEF1FF"/>
          </a:solidFill>
          <a:ln/>
        </p:spPr>
      </p:sp>
      <p:sp>
        <p:nvSpPr>
          <p:cNvPr id="7" name="Text 4"/>
          <p:cNvSpPr/>
          <p:nvPr/>
        </p:nvSpPr>
        <p:spPr>
          <a:xfrm>
            <a:off x="8749894" y="1750162"/>
            <a:ext cx="2700223" cy="1750162"/>
          </a:xfrm>
          <a:prstGeom prst="rect">
            <a:avLst/>
          </a:prstGeom>
          <a:noFill/>
          <a:ln/>
        </p:spPr>
        <p:txBody>
          <a:bodyPr wrap="square" lIns="119786" tIns="119786" rIns="119786" bIns="119786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Rs 12.89</a:t>
            </a:r>
            <a:endParaRPr lang="en-US" sz="34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555577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Baseline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11650370" y="1750162"/>
            <a:ext cx="2700223" cy="1750162"/>
          </a:xfrm>
          <a:prstGeom prst="roundRect">
            <a:avLst>
              <a:gd name="adj" fmla="val 6270"/>
            </a:avLst>
          </a:prstGeom>
          <a:solidFill>
            <a:srgbClr val="EEF1FF"/>
          </a:solidFill>
          <a:ln/>
        </p:spPr>
      </p:sp>
      <p:sp>
        <p:nvSpPr>
          <p:cNvPr id="9" name="Text 6"/>
          <p:cNvSpPr/>
          <p:nvPr/>
        </p:nvSpPr>
        <p:spPr>
          <a:xfrm>
            <a:off x="11650370" y="1750162"/>
            <a:ext cx="2700223" cy="1750162"/>
          </a:xfrm>
          <a:prstGeom prst="rect">
            <a:avLst/>
          </a:prstGeom>
          <a:noFill/>
          <a:ln/>
        </p:spPr>
        <p:txBody>
          <a:bodyPr wrap="square" lIns="119786" tIns="119786" rIns="119786" bIns="119786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Rs 7.20</a:t>
            </a:r>
            <a:endParaRPr lang="en-US" sz="34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555577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Heuristic EMS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14549933" y="1750162"/>
            <a:ext cx="2700223" cy="1750162"/>
          </a:xfrm>
          <a:prstGeom prst="roundRect">
            <a:avLst>
              <a:gd name="adj" fmla="val 6270"/>
            </a:avLst>
          </a:prstGeom>
          <a:solidFill>
            <a:srgbClr val="1A1B26"/>
          </a:solidFill>
          <a:ln/>
        </p:spPr>
      </p:sp>
      <p:sp>
        <p:nvSpPr>
          <p:cNvPr id="11" name="Text 8"/>
          <p:cNvSpPr/>
          <p:nvPr/>
        </p:nvSpPr>
        <p:spPr>
          <a:xfrm>
            <a:off x="14549933" y="1750162"/>
            <a:ext cx="2700223" cy="1750162"/>
          </a:xfrm>
          <a:prstGeom prst="rect">
            <a:avLst/>
          </a:prstGeom>
          <a:noFill/>
          <a:ln/>
        </p:spPr>
        <p:txBody>
          <a:bodyPr wrap="square" lIns="119786" tIns="119786" rIns="119786" bIns="119786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Rs 5.85</a:t>
            </a:r>
            <a:endParaRPr lang="en-US" sz="34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CDD6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LP EMS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749894" y="3699662"/>
            <a:ext cx="8510321" cy="4754880"/>
          </a:xfrm>
          <a:prstGeom prst="rect">
            <a:avLst/>
          </a:prstGeom>
          <a:solidFill>
            <a:srgbClr val="1A1B26"/>
          </a:solidFill>
          <a:ln/>
        </p:spPr>
        <p:txBody>
          <a:bodyPr wrap="square" lIns="330098" tIns="330098" rIns="330098" bIns="330098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FF7A8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THE PLOTS SHOW</a:t>
            </a:r>
            <a:endParaRPr lang="en-US" sz="26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99AC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Sunny:  </a:t>
            </a:r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LP saves Rs 7.04/day over baseline — about Rs 211 per month.</a:t>
            </a:r>
            <a:endParaRPr lang="en-US" sz="26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99AC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Cloudy:  </a:t>
            </a:r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The advantage narrows to Rs 10.87/day, about Rs 326 per month.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288207" y="-1543507"/>
            <a:ext cx="3086100" cy="3086100"/>
          </a:xfrm>
          <a:prstGeom prst="ellipse">
            <a:avLst/>
          </a:prstGeom>
          <a:solidFill>
            <a:srgbClr val="1A1B26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624535"/>
            <a:ext cx="13503859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2"/>
              </a:lnSpc>
              <a:buNone/>
            </a:pPr>
            <a:r>
              <a:rPr lang="en-US" sz="4887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Cost: Sunny vs Cloudy</a:t>
            </a:r>
            <a:endParaRPr lang="en-US" sz="4887" dirty="0"/>
          </a:p>
        </p:txBody>
      </p:sp>
      <p:sp>
        <p:nvSpPr>
          <p:cNvPr id="4" name="Shape 2"/>
          <p:cNvSpPr/>
          <p:nvPr/>
        </p:nvSpPr>
        <p:spPr>
          <a:xfrm>
            <a:off x="1028700" y="1900123"/>
            <a:ext cx="11338560" cy="6949440"/>
          </a:xfrm>
          <a:prstGeom prst="rect">
            <a:avLst/>
          </a:prstGeom>
          <a:solidFill>
            <a:srgbClr val="CDD6FF"/>
          </a:solidFill>
          <a:ln/>
        </p:spPr>
      </p:sp>
      <p:pic>
        <p:nvPicPr>
          <p:cNvPr id="5" name="Image 0" descr="assets/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773" y="1954987"/>
            <a:ext cx="11134415" cy="6839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700" y="900684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555577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Monthly household bill by method, sunny day.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3000025" y="1900123"/>
            <a:ext cx="4260190" cy="2299716"/>
          </a:xfrm>
          <a:prstGeom prst="roundRect">
            <a:avLst>
              <a:gd name="adj" fmla="val 5567"/>
            </a:avLst>
          </a:prstGeom>
          <a:solidFill>
            <a:srgbClr val="1A1B26"/>
          </a:solidFill>
          <a:ln/>
        </p:spPr>
      </p:sp>
      <p:sp>
        <p:nvSpPr>
          <p:cNvPr id="8" name="Text 5"/>
          <p:cNvSpPr/>
          <p:nvPr/>
        </p:nvSpPr>
        <p:spPr>
          <a:xfrm>
            <a:off x="13201193" y="2040941"/>
            <a:ext cx="3857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LP vs baseline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01193" y="2516429"/>
            <a:ext cx="1928927" cy="95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55%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3201193" y="3472836"/>
            <a:ext cx="1928927" cy="586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DD6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sunny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130120" y="2516429"/>
            <a:ext cx="1928927" cy="95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38%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15130120" y="3472836"/>
            <a:ext cx="1928927" cy="586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DD6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cloudy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3000025" y="4450385"/>
            <a:ext cx="4260190" cy="2299716"/>
          </a:xfrm>
          <a:prstGeom prst="roundRect">
            <a:avLst>
              <a:gd name="adj" fmla="val 5567"/>
            </a:avLst>
          </a:prstGeom>
          <a:solidFill>
            <a:srgbClr val="EEF1FF"/>
          </a:solidFill>
          <a:ln/>
        </p:spPr>
      </p:sp>
      <p:sp>
        <p:nvSpPr>
          <p:cNvPr id="14" name="Text 11"/>
          <p:cNvSpPr/>
          <p:nvPr/>
        </p:nvSpPr>
        <p:spPr>
          <a:xfrm>
            <a:off x="13201193" y="4591202"/>
            <a:ext cx="3857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LP vs heuristic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201193" y="5066690"/>
            <a:ext cx="1928927" cy="95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19%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13201193" y="6023098"/>
            <a:ext cx="1928927" cy="586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77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sunny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5130120" y="5066690"/>
            <a:ext cx="1928927" cy="95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26%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15130120" y="6023098"/>
            <a:ext cx="1928927" cy="586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77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cloudy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3000025" y="6999732"/>
            <a:ext cx="4260190" cy="2299716"/>
          </a:xfrm>
          <a:prstGeom prst="roundRect">
            <a:avLst>
              <a:gd name="adj" fmla="val 5567"/>
            </a:avLst>
          </a:prstGeom>
          <a:solidFill>
            <a:srgbClr val="EEF1FF"/>
          </a:solidFill>
          <a:ln/>
        </p:spPr>
      </p:sp>
      <p:sp>
        <p:nvSpPr>
          <p:cNvPr id="20" name="Text 17"/>
          <p:cNvSpPr/>
          <p:nvPr/>
        </p:nvSpPr>
        <p:spPr>
          <a:xfrm>
            <a:off x="13201193" y="7140550"/>
            <a:ext cx="3857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55577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Heuristic vs baseline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201193" y="7616038"/>
            <a:ext cx="1928927" cy="95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44%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13201193" y="8572445"/>
            <a:ext cx="1928927" cy="586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77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sunny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5130120" y="7616038"/>
            <a:ext cx="1928927" cy="956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17%</a:t>
            </a:r>
            <a:endParaRPr lang="en-US" sz="3400" dirty="0"/>
          </a:p>
        </p:txBody>
      </p:sp>
      <p:sp>
        <p:nvSpPr>
          <p:cNvPr id="24" name="Text 21"/>
          <p:cNvSpPr/>
          <p:nvPr/>
        </p:nvSpPr>
        <p:spPr>
          <a:xfrm>
            <a:off x="15130120" y="8572445"/>
            <a:ext cx="1928927" cy="586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77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cloudy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288207" y="-1543507"/>
            <a:ext cx="3086100" cy="3086100"/>
          </a:xfrm>
          <a:prstGeom prst="ellipse">
            <a:avLst/>
          </a:prstGeom>
          <a:solidFill>
            <a:srgbClr val="1A1B26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624535"/>
            <a:ext cx="13503859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2"/>
              </a:lnSpc>
              <a:buNone/>
            </a:pPr>
            <a:r>
              <a:rPr lang="en-US" sz="4887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SCOPE</a:t>
            </a:r>
            <a:endParaRPr lang="en-US" sz="4887" dirty="0"/>
          </a:p>
        </p:txBody>
      </p:sp>
      <p:sp>
        <p:nvSpPr>
          <p:cNvPr id="4" name="Shape 2"/>
          <p:cNvSpPr/>
          <p:nvPr/>
        </p:nvSpPr>
        <p:spPr>
          <a:xfrm>
            <a:off x="1028700" y="1999793"/>
            <a:ext cx="3787445" cy="5400446"/>
          </a:xfrm>
          <a:prstGeom prst="rect">
            <a:avLst/>
          </a:prstGeom>
          <a:solidFill>
            <a:srgbClr val="E8EBFA"/>
          </a:solidFill>
          <a:ln/>
        </p:spPr>
      </p:sp>
      <p:sp>
        <p:nvSpPr>
          <p:cNvPr id="5" name="Text 3"/>
          <p:cNvSpPr/>
          <p:nvPr/>
        </p:nvSpPr>
        <p:spPr>
          <a:xfrm>
            <a:off x="1028700" y="1999793"/>
            <a:ext cx="3787445" cy="5400446"/>
          </a:xfrm>
          <a:prstGeom prst="rect">
            <a:avLst/>
          </a:prstGeom>
          <a:noFill/>
          <a:ln/>
        </p:spPr>
        <p:txBody>
          <a:bodyPr wrap="square" lIns="299923" tIns="299923" rIns="299923" bIns="299923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555577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PHASE 3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Battery-friendly EMS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A1B26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Add the cost of battery wear to the plan, so we save money without overworking the battery.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166360" y="1999793"/>
            <a:ext cx="3787445" cy="5400446"/>
          </a:xfrm>
          <a:prstGeom prst="rect">
            <a:avLst/>
          </a:prstGeom>
          <a:solidFill>
            <a:srgbClr val="E8EBFA"/>
          </a:solidFill>
          <a:ln/>
        </p:spPr>
      </p:sp>
      <p:sp>
        <p:nvSpPr>
          <p:cNvPr id="7" name="Text 5"/>
          <p:cNvSpPr/>
          <p:nvPr/>
        </p:nvSpPr>
        <p:spPr>
          <a:xfrm>
            <a:off x="5166360" y="1999793"/>
            <a:ext cx="3787445" cy="5400446"/>
          </a:xfrm>
          <a:prstGeom prst="rect">
            <a:avLst/>
          </a:prstGeom>
          <a:noFill/>
          <a:ln/>
        </p:spPr>
        <p:txBody>
          <a:bodyPr wrap="square" lIns="299923" tIns="299923" rIns="299923" bIns="299923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555577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PHASE 4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Compare everything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A1B26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Compare all methods on cost and battery life, on sunny and cloudy days and with different tariffs.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304020" y="1999793"/>
            <a:ext cx="3787445" cy="5400446"/>
          </a:xfrm>
          <a:prstGeom prst="rect">
            <a:avLst/>
          </a:prstGeom>
          <a:solidFill>
            <a:srgbClr val="E8EBFA"/>
          </a:solidFill>
          <a:ln/>
        </p:spPr>
      </p:sp>
      <p:sp>
        <p:nvSpPr>
          <p:cNvPr id="9" name="Text 7"/>
          <p:cNvSpPr/>
          <p:nvPr/>
        </p:nvSpPr>
        <p:spPr>
          <a:xfrm>
            <a:off x="9304020" y="1999793"/>
            <a:ext cx="3787445" cy="5400446"/>
          </a:xfrm>
          <a:prstGeom prst="rect">
            <a:avLst/>
          </a:prstGeom>
          <a:noFill/>
          <a:ln/>
        </p:spPr>
        <p:txBody>
          <a:bodyPr wrap="square" lIns="299923" tIns="299923" rIns="299923" bIns="299923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555577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PHASE 5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Real-time control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A1B26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Re-plan every 15 minutes using real campus meter data and solar forecasts.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440766" y="1999793"/>
            <a:ext cx="3787445" cy="5400446"/>
          </a:xfrm>
          <a:prstGeom prst="rect">
            <a:avLst/>
          </a:prstGeom>
          <a:solidFill>
            <a:srgbClr val="E8EBFA"/>
          </a:solidFill>
          <a:ln/>
        </p:spPr>
      </p:sp>
      <p:sp>
        <p:nvSpPr>
          <p:cNvPr id="11" name="Text 9"/>
          <p:cNvSpPr/>
          <p:nvPr/>
        </p:nvSpPr>
        <p:spPr>
          <a:xfrm>
            <a:off x="13440766" y="1999793"/>
            <a:ext cx="3787445" cy="5400446"/>
          </a:xfrm>
          <a:prstGeom prst="rect">
            <a:avLst/>
          </a:prstGeom>
          <a:noFill/>
          <a:ln/>
        </p:spPr>
        <p:txBody>
          <a:bodyPr wrap="square" lIns="299923" tIns="299923" rIns="299923" bIns="299923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555577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PHASE 6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Live dashboard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A1B26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Build an app with sliders and live graphs to show the system working in the final demo.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28700" y="7900416"/>
            <a:ext cx="16230600" cy="1399946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13" name="Text 11"/>
          <p:cNvSpPr/>
          <p:nvPr/>
        </p:nvSpPr>
        <p:spPr>
          <a:xfrm>
            <a:off x="1028700" y="7900416"/>
            <a:ext cx="16230600" cy="1399946"/>
          </a:xfrm>
          <a:prstGeom prst="rect">
            <a:avLst/>
          </a:prstGeom>
          <a:noFill/>
          <a:ln/>
        </p:spPr>
        <p:txBody>
          <a:bodyPr wrap="square" lIns="299923" tIns="299923" rIns="299923" bIns="299923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Goal: lower electricity bills while keeping the battery healthy for longer.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288207" y="-1543507"/>
            <a:ext cx="3086100" cy="3086100"/>
          </a:xfrm>
          <a:prstGeom prst="ellipse">
            <a:avLst/>
          </a:prstGeom>
          <a:solidFill>
            <a:srgbClr val="1A1B26"/>
          </a:solidFill>
          <a:ln/>
        </p:spPr>
      </p:sp>
      <p:sp>
        <p:nvSpPr>
          <p:cNvPr id="3" name="Text 1"/>
          <p:cNvSpPr/>
          <p:nvPr/>
        </p:nvSpPr>
        <p:spPr>
          <a:xfrm>
            <a:off x="1028700" y="624535"/>
            <a:ext cx="13503859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2"/>
              </a:lnSpc>
              <a:buNone/>
            </a:pPr>
            <a:r>
              <a:rPr lang="en-US" sz="4887" dirty="0">
                <a:solidFill>
                  <a:srgbClr val="15128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Savings Comparison</a:t>
            </a:r>
            <a:endParaRPr lang="en-US" sz="4887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8700" y="182880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3300984"/>
                <a:gridCol w="2596896"/>
                <a:gridCol w="3300984"/>
                <a:gridCol w="2002536"/>
                <a:gridCol w="269748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Scenario</a:t>
                      </a:r>
                      <a:endParaRPr lang="en-US" sz="20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Method</a:t>
                      </a:r>
                      <a:endParaRPr lang="en-US" sz="20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Daily cost (Rs)</a:t>
                      </a:r>
                      <a:endParaRPr lang="en-US" sz="20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Saving vs baseline (Rs/day)</a:t>
                      </a:r>
                      <a:endParaRPr lang="en-US" sz="20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Saving (%)</a:t>
                      </a:r>
                      <a:endParaRPr lang="en-US" sz="20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Monthly saving (Rs)</a:t>
                      </a:r>
                      <a:endParaRPr lang="en-US" sz="20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Sunny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Baseline (no battery)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12.89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-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-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-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Heuristic EMS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7.20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5.69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44%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171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LP EMS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5.85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7.04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55%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211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Cloudy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Baseline (no battery)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28.30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-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-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-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Heuristic EMS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23.60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4.70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17%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141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LP EMS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17.43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10.87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38%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Montserrat Semi-Bold" pitchFamily="34" charset="0"/>
                          <a:ea typeface="Montserrat Semi-Bold" pitchFamily="34" charset="-122"/>
                          <a:cs typeface="Montserrat Semi-Bold" pitchFamily="34" charset="-120"/>
                        </a:rPr>
                        <a:t>326</a:t>
                      </a:r>
                      <a:endParaRPr lang="en-US" sz="2200" dirty="0">
                        <a:latin typeface="Montserrat Semi-Bold" charset="0"/>
                        <a:ea typeface="Montserrat Semi-Bold" charset="0"/>
                        <a:cs typeface="Montserrat Semi-Bold" charset="0"/>
                      </a:endParaRPr>
                    </a:p>
                  </a:txBody>
                  <a:tcPr marL="109728" marR="109728" marT="109728" marB="109728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28700" y="8321040"/>
            <a:ext cx="16230600" cy="109728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8321040"/>
            <a:ext cx="16230600" cy="1097280"/>
          </a:xfrm>
          <a:prstGeom prst="rect">
            <a:avLst/>
          </a:prstGeom>
          <a:noFill/>
          <a:ln/>
        </p:spPr>
        <p:txBody>
          <a:bodyPr wrap="square" lIns="299923" tIns="299923" rIns="299923" bIns="299923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LP saves 55% on sunny and 38% on cloudy days.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288207" y="-1543507"/>
            <a:ext cx="3086100" cy="3086100"/>
          </a:xfrm>
          <a:prstGeom prst="ellipse">
            <a:avLst/>
          </a:prstGeom>
          <a:solidFill>
            <a:srgbClr val="1A1B26"/>
          </a:solidFill>
          <a:ln/>
        </p:spPr>
      </p:sp>
      <p:sp>
        <p:nvSpPr>
          <p:cNvPr id="3" name="Shape 1"/>
          <p:cNvSpPr/>
          <p:nvPr/>
        </p:nvSpPr>
        <p:spPr>
          <a:xfrm>
            <a:off x="-1370686" y="8551469"/>
            <a:ext cx="3086100" cy="3086100"/>
          </a:xfrm>
          <a:prstGeom prst="ellipse">
            <a:avLst/>
          </a:prstGeom>
          <a:solidFill>
            <a:srgbClr val="1A1B26"/>
          </a:solidFill>
          <a:ln/>
        </p:spPr>
      </p:sp>
      <p:sp>
        <p:nvSpPr>
          <p:cNvPr id="4" name="Shape 2"/>
          <p:cNvSpPr/>
          <p:nvPr/>
        </p:nvSpPr>
        <p:spPr>
          <a:xfrm>
            <a:off x="1943100" y="2095805"/>
            <a:ext cx="14820595" cy="6019495"/>
          </a:xfrm>
          <a:prstGeom prst="roundRect">
            <a:avLst>
              <a:gd name="adj" fmla="val 3342"/>
            </a:avLst>
          </a:prstGeom>
          <a:solidFill>
            <a:srgbClr val="1A1B26"/>
          </a:solidFill>
          <a:ln/>
        </p:spPr>
      </p:sp>
      <p:sp>
        <p:nvSpPr>
          <p:cNvPr id="5" name="Text 3"/>
          <p:cNvSpPr/>
          <p:nvPr/>
        </p:nvSpPr>
        <p:spPr>
          <a:xfrm>
            <a:off x="1943100" y="2095805"/>
            <a:ext cx="14820595" cy="6019495"/>
          </a:xfrm>
          <a:prstGeom prst="rect">
            <a:avLst/>
          </a:prstGeom>
          <a:noFill/>
          <a:ln/>
        </p:spPr>
        <p:txBody>
          <a:bodyPr wrap="square" lIns="365760" tIns="365760" rIns="365760" bIns="36576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Montserrat Semi-Bold" pitchFamily="34" charset="0"/>
                <a:ea typeface="Montserrat Semi-Bold" pitchFamily="34" charset="-122"/>
                <a:cs typeface="Montserrat Semi-Bold" pitchFamily="34" charset="-120"/>
              </a:rPr>
              <a:t>THANK YOU</a:t>
            </a: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 Semi-Bol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Deep Indigo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Deck Style Kit</dc:creator>
  <cp:lastModifiedBy>Deck Style Kit</cp:lastModifiedBy>
  <cp:revision>1</cp:revision>
  <dcterms:created xsi:type="dcterms:W3CDTF">2026-10-08T10:44:33Z</dcterms:created>
  <dcterms:modified xsi:type="dcterms:W3CDTF">2026-10-08T10:44:33Z</dcterms:modified>
</cp:coreProperties>
</file>